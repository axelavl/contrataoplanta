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laboral del sector público chileno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868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contrata </a:t>
            </a:r>
            <a:pPr indent="0" marL="0">
              <a:buNone/>
            </a:pPr>
            <a:r>
              <a:rPr lang="en-US" sz="5200" i="1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planta</a:t>
            </a:r>
            <a:pPr indent="0" marL="0">
              <a:buNone/>
            </a:pPr>
            <a:r>
              <a:rPr lang="en-US" sz="52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.cl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45720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· Datos · Historial · Comunidad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423160"/>
            <a:ext cx="4572000" cy="0"/>
          </a:xfrm>
          <a:prstGeom prst="line">
            <a:avLst/>
          </a:prstGeom>
          <a:noFill/>
          <a:ln w="12700">
            <a:solidFill>
              <a:srgbClr val="E8A820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642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5720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monitoreadas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1752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01752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cubierto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día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$5K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57784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operación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2E6E"/>
          </a:solidFill>
          <a:ln w="12700">
            <a:solidFill>
              <a:srgbClr val="0A2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sector público chileno tiene 642 portales distintos. Nadie los revisa todos.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834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Información dispersa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ministerio, servicio, municipalidad y hospital publica sus concursos en su propio portal. Un postulante debe revisar decenas de sitios cada día.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37160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71600"/>
            <a:ext cx="2834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0712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Plazos que se pierden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0712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concursos duran entre 5 y 15 días. Sin un sistema de alertas, la mayoría se cierran antes de que el candidato ideal se entere de que existieron.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137160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371600"/>
            <a:ext cx="2834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información de calidad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64224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ningún lugar donde entender cómo son los procesos reales, cuánto se paga por cargo, qué diferencia hay entre contrata y planta, ni qué esperar en una entrevista del Estado.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tiene más de 2.100.000 funcionarios públicos — el mercado laboral más estable del país.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contrata </a:t>
            </a:r>
            <a:pPr indent="0" marL="0">
              <a:buNone/>
            </a:pPr>
            <a:r>
              <a:rPr lang="en-US" sz="3800" i="1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planta .cl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 para todo el empleo público chileno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97764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Ofertas centralizadas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642 instituciones monitoreadas en tiempo real. Filtros por región, área, tipo, renta.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397764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e historial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4414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del mercado, historial de concursos, tendencias de contratación por sector.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97764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8130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 reales de postulantes, Q&amp;A del sector público, tips y guías prácticas.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397764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3212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Alertas personalizadas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38130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al email cuando aparece una oferta que coincide con el perfil del usuario.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sector público chileno es el empleador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grande y estable del país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011680" cy="54864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57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 en Chile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37160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371600"/>
            <a:ext cx="2011680" cy="54864"/>
          </a:xfrm>
          <a:prstGeom prst="rect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554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6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87752" y="2377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con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propios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371600"/>
            <a:ext cx="2011680" cy="54864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554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64024" y="2377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Concursos publicados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año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37160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371600"/>
            <a:ext cx="20116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0296" y="1554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30K+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40296" y="2377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Búsquedas mensuales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estimadas (SEO)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del sector público monitoreado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60520"/>
            <a:ext cx="3456432" cy="118872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41422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(348 instituciones)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4325112"/>
            <a:ext cx="1344168" cy="118872"/>
          </a:xfrm>
          <a:prstGeom prst="rect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43068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 Central (132)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489704"/>
            <a:ext cx="384048" cy="118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471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Pública (41)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4654296"/>
            <a:ext cx="320040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636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/ CFT (33)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818888"/>
            <a:ext cx="896112" cy="11887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3584" y="48006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(88)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2E6E"/>
          </a:solidFill>
          <a:ln w="12700">
            <a:solidFill>
              <a:srgbClr val="0A2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construido de lo que parece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6245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642 instituciones mapeadas con 16 campos c/u (Excel + JSON)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28216"/>
            <a:ext cx="859536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647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7739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scrapers Python funcionando — 60%+ del mercado cubierto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30552"/>
            <a:ext cx="859536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671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1762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PostgreSQL completo con 6 tablas y full-text 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32888"/>
            <a:ext cx="859536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6946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57860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mobile-first lista para publicar hoy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718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98094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visual, documentos legales y estrategia SEO completos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859536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7413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38328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comunidad diseñada en 5 espacios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39896"/>
            <a:ext cx="8595360" cy="329184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77647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78561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(backend) — próximo paso técnico principal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142232"/>
            <a:ext cx="8595360" cy="329184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17880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418795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 búsqueda conectado a la base de datos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544568"/>
            <a:ext cx="8595360" cy="329184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58114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59028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 por email con Resend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suscripción. 6 fuentes de ingresos desde el día 1.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54864" cy="1600200"/>
          </a:xfrm>
          <a:prstGeom prst="rect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19476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Publicidad display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3500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$3–5 USD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54864" cy="1600200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90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64992" y="19476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Instituciones destacadas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3500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5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$49K–$249K CLP / pub.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2588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490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91072" y="19476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Newsletter sponsorships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23500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$30K–$250K CLP / envío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54864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278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8912" y="3685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Afiliados academias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0873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por referido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63240"/>
            <a:ext cx="54864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2278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64992" y="3685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 de datos / informes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40873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$500K–$2M CLP / informe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63240"/>
            <a:ext cx="54864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2278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91072" y="3685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para instituciones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91072" y="40873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$300K–$800K CLP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A2E6E"/>
          </a:solidFill>
          <a:ln w="12700">
            <a:solidFill>
              <a:srgbClr val="0A2E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70916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2–3 instituciones pagando $89.000/mes ó 12 suscriptores premium — costo operativo total: ~$50.000 CLP/mes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2E6E"/>
          </a:solidFill>
          <a:ln w="12700">
            <a:solidFill>
              <a:srgbClr val="0A2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financiera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Números conservadores. Sin inversión publicitaria.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  <a:gridCol w="1280160"/>
                <a:gridCol w="1280160"/>
                <a:gridCol w="1280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Q1 Año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Q2 Año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Q3 Año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Q4 Año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Año 2 (mes)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6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827"/>
                          </a:solidFill>
                        </a:rPr>
                        <a:t>AdSense display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$20K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$60K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$150K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$250K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$400K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827"/>
                          </a:solidFill>
                        </a:rPr>
                        <a:t>Instituciones destac.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$200K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$500K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$900K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$1.500K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827"/>
                          </a:solidFill>
                        </a:rPr>
                        <a:t>Newsletter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$120K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$280K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$600K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827"/>
                          </a:solidFill>
                        </a:rPr>
                        <a:t>Afiliados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$50K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$150K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$300K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$500K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2E6E"/>
                          </a:solidFill>
                        </a:rPr>
                        <a:t>Total CLP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E6E"/>
                          </a:solidFill>
                        </a:rPr>
                        <a:t>$20K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E6E"/>
                          </a:solidFill>
                        </a:rPr>
                        <a:t>$310K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E6E"/>
                          </a:solidFill>
                        </a:rPr>
                        <a:t>$920K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E6E"/>
                          </a:solidFill>
                        </a:rPr>
                        <a:t>$1.73M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E6E"/>
                          </a:solidFill>
                        </a:rPr>
                        <a:t>$3.0M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Costo operación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$5K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$15K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$40K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$50K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$150K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26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Proyección Año 2: ~$39.600.000 CLP anuales combinando los 5 modelos de ingresos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crecimiento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orgánico como motor principal. $0 en publicidad pagada.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646627"/>
            <a:ext cx="1280160" cy="10973"/>
          </a:xfrm>
          <a:prstGeom prst="rect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72307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3547872"/>
            <a:ext cx="1280160" cy="109728"/>
          </a:xfrm>
          <a:prstGeom prst="rect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3273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48840" y="3703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3328416"/>
            <a:ext cx="1280160" cy="329184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0540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3703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2834640"/>
            <a:ext cx="1280160" cy="822960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560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3703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1463040"/>
            <a:ext cx="1280160" cy="219456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188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23760" y="3703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1325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orgánicas / mes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657600"/>
            <a:ext cx="8321040" cy="0"/>
          </a:xfrm>
          <a:prstGeom prst="line">
            <a:avLst/>
          </a:prstGeom>
          <a:noFill/>
          <a:ln w="6350">
            <a:solidFill>
              <a:srgbClr val="D6D3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41648"/>
            <a:ext cx="859536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6D3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6908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for Jobs — Schema JobPosting en cada oferta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8595360" cy="219456"/>
          </a:xfrm>
          <a:prstGeom prst="rect">
            <a:avLst/>
          </a:prstGeom>
          <a:solidFill>
            <a:srgbClr val="EDECEA"/>
          </a:solidFill>
          <a:ln w="3810">
            <a:solidFill>
              <a:srgbClr val="D6D3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32511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40 artículos planificados atacando keywords de 1K–8K búsquedas/mes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553712"/>
            <a:ext cx="859536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6D3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58114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URLs semánticas por institución, región y área profesional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809744"/>
            <a:ext cx="8595360" cy="219456"/>
          </a:xfrm>
          <a:prstGeom prst="rect">
            <a:avLst/>
          </a:prstGeom>
          <a:solidFill>
            <a:srgbClr val="EDECEA"/>
          </a:solidFill>
          <a:ln w="3810">
            <a:solidFill>
              <a:srgbClr val="D6D3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3717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Contenido que se genera solo con cada nueva oferta scrapeada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diferenciador real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comunidad que el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 público no tiene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en Chile ningún lugar donde quienes trabajan en el Estado compartan sus experiencias reales.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508760" cy="24688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508760" cy="45720"/>
          </a:xfrm>
          <a:prstGeom prst="rect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postulación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240280"/>
            <a:ext cx="1508760" cy="24688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2240280"/>
            <a:ext cx="1508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2331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21408" y="28529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21408" y="3127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respuestas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85616" y="2240280"/>
            <a:ext cx="1508760" cy="24688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85616" y="2240280"/>
            <a:ext cx="15087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2331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85616" y="28529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85616" y="3127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9824" y="2240280"/>
            <a:ext cx="1508760" cy="24688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2240280"/>
            <a:ext cx="150876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2331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49824" y="28529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9824" y="3127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guías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14032" y="2240280"/>
            <a:ext cx="1508760" cy="24688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2240280"/>
            <a:ext cx="1508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2331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14032" y="28529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14032" y="3127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experiencia compartida → SEO gratuito que ningún competidor puede replicar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meses para ser el referente del sector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863840" cy="0"/>
          </a:xfrm>
          <a:prstGeom prst="line">
            <a:avLst/>
          </a:prstGeom>
          <a:noFill/>
          <a:ln w="19050">
            <a:solidFill>
              <a:srgbClr val="D6D3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48840"/>
            <a:ext cx="365760" cy="365760"/>
          </a:xfrm>
          <a:prstGeom prst="ellipse">
            <a:avLst/>
          </a:prstGeom>
          <a:solidFill>
            <a:srgbClr val="0A2E6E"/>
          </a:solidFill>
          <a:ln w="12700">
            <a:solidFill>
              <a:srgbClr val="0A2E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5176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51760"/>
            <a:ext cx="2011680" cy="54864"/>
          </a:xfrm>
          <a:prstGeom prst="rect">
            <a:avLst/>
          </a:prstGeom>
          <a:solidFill>
            <a:srgbClr val="0A2E6E"/>
          </a:solidFill>
          <a:ln w="12700">
            <a:solidFill>
              <a:srgbClr val="0A2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1–2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Registrar contrataoplanta.cl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Publicar landing en GitHub Pages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7307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Ejecutar scrapers reales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421538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Instalar PostgreSQL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2148840"/>
            <a:ext cx="365760" cy="365760"/>
          </a:xfrm>
          <a:prstGeom prst="ellipse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65176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2651760"/>
            <a:ext cx="2011680" cy="54864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3–4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 privada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27614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FastAPI en producción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0" y="32461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Frontend de búsqueda real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0" y="37307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Sistema de alertas por email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0" y="421538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Q&amp;A de comunidad seed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0" y="2148840"/>
            <a:ext cx="365760" cy="365760"/>
          </a:xfrm>
          <a:prstGeom prst="ellipse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65176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651760"/>
            <a:ext cx="2011680" cy="54864"/>
          </a:xfrm>
          <a:prstGeom prst="rect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5–6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Lanzamiento público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7614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Dominio activo y productivo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32461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Blog con 20+ artículos SEO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37307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Sección Experiencias activa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421538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Primeros ingresos por ads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52360" y="214884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265176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265176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7–12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0372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Crecimiento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40880" y="27614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de estadísticas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40880" y="32461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Primeros clientes institucionales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40880" y="37307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Newsletter con 5K suscriptores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40880" y="421538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20K–50K visitas/mes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2E6E"/>
          </a:solidFill>
          <a:ln w="12700">
            <a:solidFill>
              <a:srgbClr val="0A2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y costos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proyecto con menor costo de entrada posible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impacto que puede tener.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7889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(Mes 1–6)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~$5.000 CLP/mes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2377440" cy="0"/>
          </a:xfrm>
          <a:prstGeom prst="line">
            <a:avLst/>
          </a:prstGeom>
          <a:noFill/>
          <a:ln w="6350">
            <a:solidFill>
              <a:srgbClr val="D6D3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Railway Hobby: USD 5/mes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Pages: Gratis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39242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Resend (email): Gratis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87705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Dominio .cl: $1.083/mes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137160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371600"/>
            <a:ext cx="27889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481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(Mes 6–12)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0712" y="18013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~$50.000 CLP/mes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410712" y="2331720"/>
            <a:ext cx="2377440" cy="0"/>
          </a:xfrm>
          <a:prstGeom prst="line">
            <a:avLst/>
          </a:prstGeom>
          <a:noFill/>
          <a:ln w="6350">
            <a:solidFill>
              <a:srgbClr val="D6D3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Railway Pro: USD 20/mes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10712" y="29077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Vercel Pro: USD 20/mes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0712" y="339242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Resend básico: USD 20/mes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10712" y="387705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Extras: USD 5–10/mes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1344" y="137160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1371600"/>
            <a:ext cx="2788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1481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(Año 2+)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64224" y="18013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~$150.000 CLP/mes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364224" y="2331720"/>
            <a:ext cx="2377440" cy="0"/>
          </a:xfrm>
          <a:prstGeom prst="line">
            <a:avLst/>
          </a:prstGeom>
          <a:noFill/>
          <a:ln w="6350">
            <a:solidFill>
              <a:srgbClr val="D6D3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Backend 2 workers: USD 50/mes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64224" y="29077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PostgreSQL 10GB: USD 25/mes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64224" y="339242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Email 200K: USD 40/mes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64224" y="387705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Monitoring + extras: USD 30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A2E6E"/>
          </a:solidFill>
          <a:ln w="12700">
            <a:solidFill>
              <a:srgbClr val="0A2E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36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de operación: 2–3 instituciones pagando $89.000/mes ó 12 suscriptores premium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contrata </a:t>
            </a:r>
            <a:pPr indent="0" marL="0">
              <a:buNone/>
            </a:pPr>
            <a:r>
              <a:rPr lang="en-US" sz="4200" i="1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planta</a:t>
            </a:r>
            <a:pPr indent="0" marL="0">
              <a:buNone/>
            </a:pPr>
            <a:r>
              <a:rPr lang="en-US" sz="4200" dirty="0">
                <a:solidFill>
                  <a:srgbClr val="E8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.cl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457200" y="1325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laboral del sector público chileno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1874520"/>
            <a:ext cx="822960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011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primer referente del empleo público chileno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 por construirse. Aún no existe nadie que lo haga bien.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63040" y="3401568"/>
            <a:ext cx="347472" cy="347472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34198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794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contrataoplanta.cl en NIC Chile ($12.990 CLP)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79392" y="3401568"/>
            <a:ext cx="347472" cy="347472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34198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73552" y="3794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landing en GitHub Pages (10 minutos)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95744" y="3401568"/>
            <a:ext cx="347472" cy="347472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95744" y="34198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89904" y="3794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primer scraper real con datos en vivo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E8A82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hola@contrataoplanta.cl  ·  contrataoplanta.cl  ·  @contrataoplanta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contrata o planta .cl — Pitch Deck</dc:title>
  <dc:subject>PptxGenJS Presentation</dc:subject>
  <dc:creator>PptxGenJS</dc:creator>
  <cp:lastModifiedBy>PptxGenJS</cp:lastModifiedBy>
  <cp:revision>1</cp:revision>
  <dcterms:created xsi:type="dcterms:W3CDTF">2026-04-11T16:00:19Z</dcterms:created>
  <dcterms:modified xsi:type="dcterms:W3CDTF">2026-04-11T16:00:19Z</dcterms:modified>
</cp:coreProperties>
</file>